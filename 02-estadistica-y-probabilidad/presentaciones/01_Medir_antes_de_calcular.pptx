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7D3930"/>
                </a:solidFill>
                <a:latin typeface="Aptos"/>
              </a:defRPr>
            </a:pPr>
            <a:r>
              <a:t>SESIÓN 1 · ¿QUÉ CUENTA COMO DATO?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27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62A37"/>
                </a:solidFill>
                <a:latin typeface="Aptos"/>
              </a:defRPr>
            </a:pPr>
            <a:r>
              <a:t>Pregunta inicial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993392"/>
            <a:ext cx="10789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1D313B"/>
                </a:solidFill>
                <a:latin typeface="Aptos"/>
              </a:defRPr>
            </a:pPr>
            <a:r>
              <a:t>Vimos 12 avistamientos en cinco minutos. ¿Cuántos gatos distintos hubo?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480560"/>
            <a:ext cx="10607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5E2A27"/>
                </a:solidFill>
                <a:latin typeface="Aptos"/>
              </a:defRPr>
            </a:pPr>
            <a:r>
              <a:t>Individual: escribe una respuesta y una duda. Equipo: acuerden qué información falta.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81344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05659"/>
                </a:solidFill>
                <a:latin typeface="Aptos"/>
              </a:defRPr>
            </a:pPr>
            <a:r>
              <a:t>0–8 min    ·    Equipo de 4    ·    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7D3930"/>
                </a:solidFill>
                <a:latin typeface="Aptos"/>
              </a:defRPr>
            </a:pPr>
            <a:r>
              <a:t>SESIÓN 1 · ¿QUÉ CUENTA COMO DATO?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27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62A37"/>
                </a:solidFill>
                <a:latin typeface="Aptos"/>
              </a:defRPr>
            </a:pPr>
            <a:r>
              <a:t>Una pregunta medible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993392"/>
            <a:ext cx="10789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1D313B"/>
                </a:solidFill>
                <a:latin typeface="Aptos"/>
              </a:defRPr>
            </a:pPr>
            <a:r>
              <a:t>¿Cuántas entradas al radio de 3 m ocurren durante intervalos de un minuto en un sitio y horario definidos?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480560"/>
            <a:ext cx="10607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5E2A27"/>
                </a:solidFill>
                <a:latin typeface="Aptos"/>
              </a:defRPr>
            </a:pPr>
            <a:r>
              <a:t>Variable, unidad, lugar, duración y criterio de reingreso se acuerdan antes de observar.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81344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05659"/>
                </a:solidFill>
                <a:latin typeface="Aptos"/>
              </a:defRPr>
            </a:pPr>
            <a:r>
              <a:t>8–13 min    ·    Equipo de 4    ·    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7D3930"/>
                </a:solidFill>
                <a:latin typeface="Aptos"/>
              </a:defRPr>
            </a:pPr>
            <a:r>
              <a:t>SESIÓN 1 · ¿QUÉ CUENTA COMO DATO?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27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62A37"/>
                </a:solidFill>
                <a:latin typeface="Aptos"/>
              </a:defRPr>
            </a:pPr>
            <a:r>
              <a:t>Unidad, población y muestra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993392"/>
            <a:ext cx="10789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1D313B"/>
                </a:solidFill>
                <a:latin typeface="Aptos"/>
              </a:defRPr>
            </a:pPr>
            <a:r>
              <a:t>Unidad de observación: un intervalo de 1 min. Muestra: cinco intervalos registrados. Población de interés: intervalos comparables bajo el mismo protocolo.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480560"/>
            <a:ext cx="10607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5E2A27"/>
                </a:solidFill>
                <a:latin typeface="Aptos"/>
              </a:defRPr>
            </a:pPr>
            <a:r>
              <a:t>La población estadística de intervalos no equivale al número de gatos del campus.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81344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05659"/>
                </a:solidFill>
                <a:latin typeface="Aptos"/>
              </a:defRPr>
            </a:pPr>
            <a:r>
              <a:t>13–19 min    ·    Equipo de 4    ·    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7D3930"/>
                </a:solidFill>
                <a:latin typeface="Aptos"/>
              </a:defRPr>
            </a:pPr>
            <a:r>
              <a:t>SESIÓN 1 · ¿QUÉ CUENTA COMO DATO?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27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62A37"/>
                </a:solidFill>
                <a:latin typeface="Aptos"/>
              </a:defRPr>
            </a:pPr>
            <a:r>
              <a:t>El protocolo del equipo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993392"/>
            <a:ext cx="10789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1D313B"/>
                </a:solidFill>
                <a:latin typeface="Aptos"/>
              </a:defRPr>
            </a:pPr>
            <a:r>
              <a:t>Cuatro integrantes acuerdan zona, punto fijo, radio aproximado de 3 m y cinco intervalos de un minuto. Registran también ceros, hora y condiciones.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480560"/>
            <a:ext cx="10607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5E2A27"/>
                </a:solidFill>
                <a:latin typeface="Aptos"/>
              </a:defRPr>
            </a:pPr>
            <a:r>
              <a:t>Si no hay observación segura o accesible, usen el conjunto de datos proporcionado.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81344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05659"/>
                </a:solidFill>
                <a:latin typeface="Aptos"/>
              </a:defRPr>
            </a:pPr>
            <a:r>
              <a:t>25–35 min    ·    Equipo de 4    ·    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7D3930"/>
                </a:solidFill>
                <a:latin typeface="Aptos"/>
              </a:defRPr>
            </a:pPr>
            <a:r>
              <a:t>SESIÓN 1 · ¿QUÉ CUENTA COMO DATO?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27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62A37"/>
                </a:solidFill>
                <a:latin typeface="Aptos"/>
              </a:defRPr>
            </a:pPr>
            <a:r>
              <a:t>Cuatro responsabilidades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993392"/>
            <a:ext cx="10789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1D313B"/>
                </a:solidFill>
                <a:latin typeface="Aptos"/>
              </a:defRPr>
            </a:pPr>
            <a:r>
              <a:t>1: define y lee el protocolo. 2: observa y cuenta entradas. 3: registra tiempos y conteos. 4: audita ambigüedades y reingresos.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480560"/>
            <a:ext cx="10607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5E2A27"/>
                </a:solidFill>
                <a:latin typeface="Aptos"/>
              </a:defRPr>
            </a:pPr>
            <a:r>
              <a:t>Cada integrante anota por sí mismo qué mide X. Roten roles en otra actividad.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81344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05659"/>
                </a:solidFill>
                <a:latin typeface="Aptos"/>
              </a:defRPr>
            </a:pPr>
            <a:r>
              <a:t>35–40 min    ·    Equipo de 4    ·    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7D3930"/>
                </a:solidFill>
                <a:latin typeface="Aptos"/>
              </a:defRPr>
            </a:pPr>
            <a:r>
              <a:t>SESIÓN 1 · ¿QUÉ CUENTA COMO DATO?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27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62A37"/>
                </a:solidFill>
                <a:latin typeface="Aptos"/>
              </a:defRPr>
            </a:pPr>
            <a:r>
              <a:t>Media descriptiva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993392"/>
            <a:ext cx="10789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1D313B"/>
                </a:solidFill>
                <a:latin typeface="Aptos"/>
              </a:defRPr>
            </a:pPr>
            <a:r>
              <a:t>Xᵢ = entradas durante el intervalo i; Xᵢ ∈ {0,1,2,…}. Para {2,3,1,4,2}: x̄ = (1/n)∑Xᵢ = 12/5 = 2.4 entradas por intervalo.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480560"/>
            <a:ext cx="10607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5E2A27"/>
                </a:solidFill>
                <a:latin typeface="Aptos"/>
              </a:defRPr>
            </a:pPr>
            <a:r>
              <a:t>No confundan cinco intervalos con doce individuos distintos.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81344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05659"/>
                </a:solidFill>
                <a:latin typeface="Aptos"/>
              </a:defRPr>
            </a:pPr>
            <a:r>
              <a:t>40–55 min    ·    Equipo de 4    ·    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7D3930"/>
                </a:solidFill>
                <a:latin typeface="Aptos"/>
              </a:defRPr>
            </a:pPr>
            <a:r>
              <a:t>SESIÓN 1 · ¿QUÉ CUENTA COMO DATO?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27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62A37"/>
                </a:solidFill>
                <a:latin typeface="Aptos"/>
              </a:defRPr>
            </a:pPr>
            <a:r>
              <a:t>Frecuencia y gráfica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993392"/>
            <a:ext cx="10789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1D313B"/>
                </a:solidFill>
                <a:latin typeface="Aptos"/>
              </a:defRPr>
            </a:pPr>
            <a:r>
              <a:t>f(x) = número de intervalos cuyo conteo es x. ∑ₓ f(x) = n = 5. Para el ejemplo: f(1)=1, f(2)=2, f(3)=1, f(4)=1.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480560"/>
            <a:ext cx="10607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5E2A27"/>
                </a:solidFill>
                <a:latin typeface="Aptos"/>
              </a:defRPr>
            </a:pPr>
            <a:r>
              <a:t>Dibujen un punto por intervalo y comprueben las cinco marcas contra la tabla.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81344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05659"/>
                </a:solidFill>
                <a:latin typeface="Aptos"/>
              </a:defRPr>
            </a:pPr>
            <a:r>
              <a:t>55–67 min    ·    Equipo de 4    ·    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7D3930"/>
                </a:solidFill>
                <a:latin typeface="Aptos"/>
              </a:defRPr>
            </a:pPr>
            <a:r>
              <a:t>SESIÓN 1 · ¿QUÉ CUENTA COMO DATO?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27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62A37"/>
                </a:solidFill>
                <a:latin typeface="Aptos"/>
              </a:defRPr>
            </a:pPr>
            <a:r>
              <a:t>Descripción e inferencia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993392"/>
            <a:ext cx="10789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1D313B"/>
                </a:solidFill>
                <a:latin typeface="Aptos"/>
              </a:defRPr>
            </a:pPr>
            <a:r>
              <a:t>Descripción: en estos cinco intervalos hubo doce entradas. Inferencia: una tasa habitual para otros intervalos requiere muestreo, supuestos y una medida de incertidumbre.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480560"/>
            <a:ext cx="10607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5E2A27"/>
                </a:solidFill>
                <a:latin typeface="Aptos"/>
              </a:defRPr>
            </a:pPr>
            <a:r>
              <a:t>Intercambien registros; revisen ceros, duración, reingresos, gráfica y alcance. Entreguen una corrección.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81344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05659"/>
                </a:solidFill>
                <a:latin typeface="Aptos"/>
              </a:defRPr>
            </a:pPr>
            <a:r>
              <a:t>67–82 min    ·    Equipo de 4    ·    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7D3930"/>
                </a:solidFill>
                <a:latin typeface="Aptos"/>
              </a:defRPr>
            </a:pPr>
            <a:r>
              <a:t>SESIÓN 1 · ¿QUÉ CUENTA COMO DATO?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27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62A37"/>
                </a:solidFill>
                <a:latin typeface="Aptos"/>
              </a:defRPr>
            </a:pPr>
            <a:r>
              <a:t>Salida individual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993392"/>
            <a:ext cx="10789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1D313B"/>
                </a:solidFill>
                <a:latin typeface="Aptos"/>
              </a:defRPr>
            </a:pPr>
            <a:r>
              <a:t>¿Qué cuenta X? ¿Por qué 12 entradas no son 12 individuos? ¿Qué cambiarías para repetir la observación?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480560"/>
            <a:ext cx="10607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5E2A27"/>
                </a:solidFill>
                <a:latin typeface="Aptos"/>
              </a:defRPr>
            </a:pPr>
            <a:r>
              <a:t>Entreguen tres respuestas breves de cada integrante.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81344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05659"/>
                </a:solidFill>
                <a:latin typeface="Aptos"/>
              </a:defRPr>
            </a:pPr>
            <a:r>
              <a:t>82–90 min    ·    Equipo de 4    ·    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