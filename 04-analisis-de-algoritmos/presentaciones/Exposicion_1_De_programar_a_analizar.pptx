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8c85c35e654e4a" /><Relationship Type="http://schemas.openxmlformats.org/officeDocument/2006/relationships/extended-properties" Target="/docProps/app.xml" Id="Rb394a37ff6e7434a" /><Relationship Type="http://schemas.openxmlformats.org/officeDocument/2006/relationships/officeDocument" Target="/ppt/presentation.xml" Id="R32fc07ef554e48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15714a399e49c9"/>
  </p:sldMasterIdLst>
  <p:notesMasterIdLst>
    <p:notesMasterId xmlns:r="http://schemas.openxmlformats.org/officeDocument/2006/relationships" r:id="R1e1af5ea4b4342fa"/>
  </p:notesMasterIdLst>
  <p:sldIdLst>
    <p:sldId xmlns:r="http://schemas.openxmlformats.org/officeDocument/2006/relationships" id="256" r:id="R5010420d65d44501"/>
    <p:sldId xmlns:r="http://schemas.openxmlformats.org/officeDocument/2006/relationships" id="257" r:id="R04f038d2f4764709"/>
    <p:sldId xmlns:r="http://schemas.openxmlformats.org/officeDocument/2006/relationships" id="258" r:id="Rcfe529fb1f544f78"/>
    <p:sldId xmlns:r="http://schemas.openxmlformats.org/officeDocument/2006/relationships" id="259" r:id="R1e0efb5c08f24a05"/>
    <p:sldId xmlns:r="http://schemas.openxmlformats.org/officeDocument/2006/relationships" id="260" r:id="R5270784d57c14a74"/>
    <p:sldId xmlns:r="http://schemas.openxmlformats.org/officeDocument/2006/relationships" id="261" r:id="R2c960c8ce26c47ac"/>
    <p:sldId xmlns:r="http://schemas.openxmlformats.org/officeDocument/2006/relationships" id="262" r:id="R5affc767bc45465d"/>
    <p:sldId xmlns:r="http://schemas.openxmlformats.org/officeDocument/2006/relationships" id="263" r:id="R41efa7246c4a4a8a"/>
    <p:sldId xmlns:r="http://schemas.openxmlformats.org/officeDocument/2006/relationships" id="264" r:id="Rb3dbbf6e97bd46e4"/>
    <p:sldId xmlns:r="http://schemas.openxmlformats.org/officeDocument/2006/relationships" id="265" r:id="R206f6ffb7ccc4136"/>
    <p:sldId xmlns:r="http://schemas.openxmlformats.org/officeDocument/2006/relationships" id="266" r:id="Rde8ec91947984f0b"/>
    <p:sldId xmlns:r="http://schemas.openxmlformats.org/officeDocument/2006/relationships" id="267" r:id="Rbf8acd7766ae47fd"/>
    <p:sldId xmlns:r="http://schemas.openxmlformats.org/officeDocument/2006/relationships" id="268" r:id="Rdfa2c4e298784894"/>
    <p:sldId xmlns:r="http://schemas.openxmlformats.org/officeDocument/2006/relationships" id="269" r:id="Re3884b7b69974bf5"/>
    <p:sldId xmlns:r="http://schemas.openxmlformats.org/officeDocument/2006/relationships" id="270" r:id="R1768de90d7e445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d859aa9c454c09" /><Relationship Type="http://schemas.openxmlformats.org/officeDocument/2006/relationships/slideMaster" Target="/ppt/slideMasters/slideMaster1.xml" Id="R3015714a399e49c9" /><Relationship Type="http://schemas.openxmlformats.org/officeDocument/2006/relationships/notesMaster" Target="/ppt/notesMasters/notesMaster1.xml" Id="R1e1af5ea4b4342fa" /><Relationship Type="http://schemas.openxmlformats.org/officeDocument/2006/relationships/presProps" Target="/ppt/presProps.xml" Id="Rbe3d55b87b224344" /><Relationship Type="http://schemas.openxmlformats.org/officeDocument/2006/relationships/tableStyles" Target="/ppt/tableStyles.xml" Id="Re7f912483c8b4d35" /><Relationship Type="http://schemas.openxmlformats.org/officeDocument/2006/relationships/slide" Target="/ppt/slides/slide1.xml" Id="R5010420d65d44501" /><Relationship Type="http://schemas.openxmlformats.org/officeDocument/2006/relationships/slide" Target="/ppt/slides/slide2.xml" Id="R04f038d2f4764709" /><Relationship Type="http://schemas.openxmlformats.org/officeDocument/2006/relationships/slide" Target="/ppt/slides/slide3.xml" Id="Rcfe529fb1f544f78" /><Relationship Type="http://schemas.openxmlformats.org/officeDocument/2006/relationships/slide" Target="/ppt/slides/slide4.xml" Id="R1e0efb5c08f24a05" /><Relationship Type="http://schemas.openxmlformats.org/officeDocument/2006/relationships/slide" Target="/ppt/slides/slide5.xml" Id="R5270784d57c14a74" /><Relationship Type="http://schemas.openxmlformats.org/officeDocument/2006/relationships/slide" Target="/ppt/slides/slide6.xml" Id="R2c960c8ce26c47ac" /><Relationship Type="http://schemas.openxmlformats.org/officeDocument/2006/relationships/slide" Target="/ppt/slides/slide7.xml" Id="R5affc767bc45465d" /><Relationship Type="http://schemas.openxmlformats.org/officeDocument/2006/relationships/slide" Target="/ppt/slides/slide8.xml" Id="R41efa7246c4a4a8a" /><Relationship Type="http://schemas.openxmlformats.org/officeDocument/2006/relationships/slide" Target="/ppt/slides/slide9.xml" Id="Rb3dbbf6e97bd46e4" /><Relationship Type="http://schemas.openxmlformats.org/officeDocument/2006/relationships/slide" Target="/ppt/slides/slide10.xml" Id="R206f6ffb7ccc4136" /><Relationship Type="http://schemas.openxmlformats.org/officeDocument/2006/relationships/slide" Target="/ppt/slides/slide11.xml" Id="Rde8ec91947984f0b" /><Relationship Type="http://schemas.openxmlformats.org/officeDocument/2006/relationships/slide" Target="/ppt/slides/slide12.xml" Id="Rbf8acd7766ae47fd" /><Relationship Type="http://schemas.openxmlformats.org/officeDocument/2006/relationships/slide" Target="/ppt/slides/slide13.xml" Id="Rdfa2c4e298784894" /><Relationship Type="http://schemas.openxmlformats.org/officeDocument/2006/relationships/slide" Target="/ppt/slides/slide14.xml" Id="Re3884b7b69974bf5" /><Relationship Type="http://schemas.openxmlformats.org/officeDocument/2006/relationships/slide" Target="/ppt/slides/slide15.xml" Id="R1768de90d7e445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2309d297a141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80dec56b9f44ed" /><Relationship Type="http://schemas.openxmlformats.org/officeDocument/2006/relationships/notesMaster" Target="/ppt/notesMasters/notesMaster1.xml" Id="Rffce74535a1648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782ab461114bcd" /><Relationship Type="http://schemas.openxmlformats.org/officeDocument/2006/relationships/notesMaster" Target="/ppt/notesMasters/notesMaster1.xml" Id="Rd237a79fe39549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e2009f3650436b" /><Relationship Type="http://schemas.openxmlformats.org/officeDocument/2006/relationships/notesMaster" Target="/ppt/notesMasters/notesMaster1.xml" Id="Rede3c6a8e04a46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e4a4149757465c" /><Relationship Type="http://schemas.openxmlformats.org/officeDocument/2006/relationships/notesMaster" Target="/ppt/notesMasters/notesMaster1.xml" Id="R797cbc5be63e42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e501745fd34ef8" /><Relationship Type="http://schemas.openxmlformats.org/officeDocument/2006/relationships/notesMaster" Target="/ppt/notesMasters/notesMaster1.xml" Id="R38cdd1412eaa4e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02e554e0624ecf" /><Relationship Type="http://schemas.openxmlformats.org/officeDocument/2006/relationships/notesMaster" Target="/ppt/notesMasters/notesMaster1.xml" Id="Rd4f0511c18534d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2784c65dc44c0d" /><Relationship Type="http://schemas.openxmlformats.org/officeDocument/2006/relationships/notesMaster" Target="/ppt/notesMasters/notesMaster1.xml" Id="Rf04eea8e695843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4f8699977f4417" /><Relationship Type="http://schemas.openxmlformats.org/officeDocument/2006/relationships/notesMaster" Target="/ppt/notesMasters/notesMaster1.xml" Id="R74ccfab7d67544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fea57156224162" /><Relationship Type="http://schemas.openxmlformats.org/officeDocument/2006/relationships/notesMaster" Target="/ppt/notesMasters/notesMaster1.xml" Id="R37ef439469ea4f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5437dbe89048e3" /><Relationship Type="http://schemas.openxmlformats.org/officeDocument/2006/relationships/notesMaster" Target="/ppt/notesMasters/notesMaster1.xml" Id="Rb80e443e166846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53e563607140b9" /><Relationship Type="http://schemas.openxmlformats.org/officeDocument/2006/relationships/notesMaster" Target="/ppt/notesMasters/notesMaster1.xml" Id="R97743b0d770342e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935b7e280b4d8c" /><Relationship Type="http://schemas.openxmlformats.org/officeDocument/2006/relationships/notesMaster" Target="/ppt/notesMasters/notesMaster1.xml" Id="Reb5079b998b5438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31f569af4c843d3" /><Relationship Type="http://schemas.openxmlformats.org/officeDocument/2006/relationships/notesMaster" Target="/ppt/notesMasters/notesMaster1.xml" Id="Rd8b9d601ae55441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86d8731574947ec" /><Relationship Type="http://schemas.openxmlformats.org/officeDocument/2006/relationships/notesMaster" Target="/ppt/notesMasters/notesMaster1.xml" Id="Rf5e51093a9cc47a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a7aadf272694da9" /><Relationship Type="http://schemas.openxmlformats.org/officeDocument/2006/relationships/notesMaster" Target="/ppt/notesMasters/notesMaster1.xml" Id="Rd8156c8154114f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Baase y Van Gelder, Algoritmos computacionales, páginas PDF 22–61 del archivo proporcionado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Baase y Van Gelder, Algoritmos computacionales, páginas PDF 22–23, 51–52 del archivo proporcionado por el usuario.</a:t>
            </a:r>
          </a:p>
          <a:p xmlns:a="http://schemas.openxmlformats.org/drawingml/2006/main">
            <a:r>
              <a:t>Actividad inicial diseñada a partir de la distinción entre resolver y resolver de manera práctica.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Baase y Van Gelder, Algoritmos computacionales, páginas PDF 35–47 del archivo proporcionado por el usuario.</a:t>
            </a:r>
          </a:p>
          <a:p xmlns:a="http://schemas.openxmlformats.org/drawingml/2006/main">
            <a:r>
              <a:t>La identidad de la suma se usa como puente hacia conteo de trabajo y sumatorias.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Baase y Van Gelder, Algoritmos computacionales, páginas PDF 31–35, 51–52 del archivo proporcionado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Baase y Van Gelder, Algoritmos computacionales, páginas PDF 23–30, 50–52 del archivo proporcionado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Baase y Van Gelder, Algoritmos computacionales, páginas PDF 31–33, 43–51 del archivo proporcionado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Baase y Van Gelder, Algoritmos computacionales, páginas PDF 50–61 del archivo proporcionado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Baase y Van Gelder, Algoritmos computacionales, páginas PDF 50–51 del archivo proporcionado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Baase y Van Gelder, Algoritmos computacionales, páginas PDF 23–30 del archivo proporcionado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Baase y Van Gelder, Algoritmos computacionales, páginas PDF 51–53 del archivo proporcionado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Baase y Van Gelder, Algoritmos computacionales, páginas PDF 53–54 del archivo proporcionado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Baase y Van Gelder, Algoritmos computacionales, páginas PDF 53–59 del archivo proporcionado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Baase y Van Gelder, Algoritmos computacionales, páginas PDF 23–35, 50–59 del archivo proporcionado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Baase y Van Gelder, Algoritmos computacionales, páginas PDF 22–30, 50–51 del archivo proporcionado por el usuario.</a:t>
            </a:r>
          </a:p>
          <a:p xmlns:a="http://schemas.openxmlformats.org/drawingml/2006/main">
            <a:r>
              <a:t>Ejemplo de implementación añadido para problematizar la relación entre método y programa.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Baase y Van Gelder, Algoritmos computacionales, páginas PDF 50–69 del archivo proporcionado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508d4224c24a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541251934b417b" /><Relationship Type="http://schemas.openxmlformats.org/officeDocument/2006/relationships/slideLayout" Target="/ppt/slideLayouts/slideLayout1.xml" Id="R9222a25b03bd42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22a25b03bd42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fda62249642bc" /><Relationship Type="http://schemas.openxmlformats.org/officeDocument/2006/relationships/notesSlide" Target="/ppt/notesSlides/notesSlide1.xml" Id="R10566eff75a045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dbbe65b4f4de6" /><Relationship Type="http://schemas.openxmlformats.org/officeDocument/2006/relationships/notesSlide" Target="/ppt/notesSlides/notesSlide2.xml" Id="Ra2ae9db8a37b44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0f43073fa483e" /><Relationship Type="http://schemas.openxmlformats.org/officeDocument/2006/relationships/notesSlide" Target="/ppt/notesSlides/notesSlide3.xml" Id="R18aac6ff04894b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ab2176a904548" /><Relationship Type="http://schemas.openxmlformats.org/officeDocument/2006/relationships/notesSlide" Target="/ppt/notesSlides/notesSlide4.xml" Id="R0a1d8d9ab7bb46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158a167c14601" /><Relationship Type="http://schemas.openxmlformats.org/officeDocument/2006/relationships/notesSlide" Target="/ppt/notesSlides/notesSlide5.xml" Id="Ree8f32501bc94c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6c8c05b914454" /><Relationship Type="http://schemas.openxmlformats.org/officeDocument/2006/relationships/chart" Target="/ppt/slides/charts/chart1.xml" Id="Rf497bb5c89744172" /><Relationship Type="http://schemas.openxmlformats.org/officeDocument/2006/relationships/notesSlide" Target="/ppt/notesSlides/notesSlide6.xml" Id="R5f5847ffe3b84f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473960c9f48c1" /><Relationship Type="http://schemas.openxmlformats.org/officeDocument/2006/relationships/notesSlide" Target="/ppt/notesSlides/notesSlide7.xml" Id="Rdac831323bab4c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213baea744114" /><Relationship Type="http://schemas.openxmlformats.org/officeDocument/2006/relationships/notesSlide" Target="/ppt/notesSlides/notesSlide8.xml" Id="R0af120249d9341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181331087477e" /><Relationship Type="http://schemas.openxmlformats.org/officeDocument/2006/relationships/notesSlide" Target="/ppt/notesSlides/notesSlide9.xml" Id="R6e451a16b39148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2cc04360d4921" /><Relationship Type="http://schemas.openxmlformats.org/officeDocument/2006/relationships/notesSlide" Target="/ppt/notesSlides/notesSlide10.xml" Id="Re82637aae56746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514af9a524fdb" /><Relationship Type="http://schemas.openxmlformats.org/officeDocument/2006/relationships/notesSlide" Target="/ppt/notesSlides/notesSlide11.xml" Id="Ra1616e8ea37248b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88625fe594c21" /><Relationship Type="http://schemas.openxmlformats.org/officeDocument/2006/relationships/notesSlide" Target="/ppt/notesSlides/notesSlide12.xml" Id="R2c4358e65a3349e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6056cd32b47bb" /><Relationship Type="http://schemas.openxmlformats.org/officeDocument/2006/relationships/notesSlide" Target="/ppt/notesSlides/notesSlide13.xml" Id="Rd51e33e7324345d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1f57039eb4b0a" /><Relationship Type="http://schemas.openxmlformats.org/officeDocument/2006/relationships/notesSlide" Target="/ppt/notesSlides/notesSlide14.xml" Id="R63863471443b4e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d290593c549b0" /><Relationship Type="http://schemas.openxmlformats.org/officeDocument/2006/relationships/notesSlide" Target="/ppt/notesSlides/notesSlide15.xml" Id="Rf6d0b7a8ba924c8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ciclo</c:v>
          </c:tx>
          <c:spPr>
            <a:solidFill xmlns:a="http://schemas.openxmlformats.org/drawingml/2006/main">
              <a:srgbClr val="B62962"/>
            </a:solidFill>
          </c:spPr>
          <c:cat>
            <c:strRef>
              <c:f>'Chart Data'!$A$2:$A$5</c:f>
              <c:strCache>
                <c:ptCount val="4"/>
                <c:pt idx="0">
                  <c:v>100</c:v>
                </c:pt>
                <c:pt idx="1">
                  <c:v>1 000</c:v>
                </c:pt>
                <c:pt idx="2">
                  <c:v>10 000</c:v>
                </c:pt>
                <c:pt idx="3">
                  <c:v>1 000 000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100</c:v>
                </c:pt>
                <c:pt idx="1">
                  <c:v>1000</c:v>
                </c:pt>
                <c:pt idx="2">
                  <c:v>10000</c:v>
                </c:pt>
                <c:pt idx="3">
                  <c:v>1000000</c:v>
                </c:pt>
              </c:numCache>
            </c:numRef>
          </c:val>
        </c:ser>
        <c:ser>
          <c:idx val="1"/>
          <c:order val="1"/>
          <c:tx>
            <c:v>pares</c:v>
          </c:tx>
          <c:spPr>
            <a:solidFill xmlns:a="http://schemas.openxmlformats.org/drawingml/2006/main">
              <a:srgbClr val="66C7D5"/>
            </a:solidFill>
          </c:spPr>
          <c:cat>
            <c:strRef>
              <c:f>'Chart Data'!$C$2:$C$5</c:f>
              <c:strCache>
                <c:ptCount val="4"/>
                <c:pt idx="0">
                  <c:v>100</c:v>
                </c:pt>
                <c:pt idx="1">
                  <c:v>1 000</c:v>
                </c:pt>
                <c:pt idx="2">
                  <c:v>10 000</c:v>
                </c:pt>
                <c:pt idx="3">
                  <c:v>1 000 000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50</c:v>
                </c:pt>
                <c:pt idx="1">
                  <c:v>500</c:v>
                </c:pt>
                <c:pt idx="2">
                  <c:v>5000</c:v>
                </c:pt>
                <c:pt idx="3">
                  <c:v>500000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Bitstream Charter"/>
              <a:ea typeface="Bitstream Charter"/>
              <a:cs typeface="Bitstream Charter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B5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7AC14-655C-4822-9288-6AA6451B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296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4E32D-324D-4A70-AAE4-943C0B16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C7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66C7D5"/>
                </a:solidFill>
                <a:latin typeface="Bitstream Charter"/>
                <a:ea typeface="Bitstream Charter"/>
                <a:cs typeface="Bitstream Charter"/>
              </a:rPr>
              <a:t>EXPOSICIÓN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66DD20-EB11-4CE7-876E-791D7315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09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 programar a analizar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C5B40-DF10-4311-B1D6-C572F809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0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F4F0E8"/>
                </a:solidFill>
                <a:latin typeface="Bitstream Charter"/>
                <a:ea typeface="Bitstream Charter"/>
                <a:cs typeface="Bitstream Charter"/>
              </a:rPr>
              <a:t>Cómo decidir si un algoritmo funciona y si seguirá siendo útil cuando crece la entrada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407F0-0C26-4EFD-8BAD-13B8FDB4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409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296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79C75-43EA-4E37-B1DB-001B20D2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B9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E7B94C"/>
                </a:solidFill>
                <a:latin typeface="Bitstream Charter"/>
                <a:ea typeface="Bitstream Charter"/>
                <a:cs typeface="Bitstream Charter"/>
              </a:rPr>
              <a:t>Sesión de hoy · participación, prueba y argumentación</a:t>
            </a:r>
          </a:p>
        </p:txBody>
      </p:sp>
    </p:spTree>
    <p:extLst>
      <p:ext uri="{BB962C8B-B14F-4D97-AF65-F5344CB8AC3E}">
        <p14:creationId xmlns:p14="http://schemas.microsoft.com/office/powerpoint/2010/main" val="7564463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BB4B11-8DFC-4603-9720-0761E533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296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45892-163F-4533-95F5-17A6E8CB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Una suma, tres decisiones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91403-9E0F-4F1B-A32C-2E22C561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76B04-F529-4749-A5A9-0C8E9CB2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296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9AF71-9FC1-4FD8-AB75-436688C2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695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¿Cómo sumarías los primeros 100 números?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FDA35-25CF-4F26-B16A-546BC130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571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296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A0633-B006-4B0C-BE5B-F000B968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4312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Un ciclo for de 1 a 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22057-B4D2-4402-ABD3-16779C8E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571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1E206-7D3C-4661-8192-74F0168F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9562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Emparejar extremos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5E3B8-0ABF-44B6-B074-1A7B42A4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571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94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2100E0-40A9-411F-86AF-319189D1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Usar una fórmula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400109-7E2C-4A82-B8C0-7BE8A7D5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19250"/>
            <a:ext cx="3619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2C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0723FF-E1F1-4E93-AE05-420F4F4E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05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VOTACIÓN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6B4493-F11B-4965-9B8A-E4E51860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285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Elige primero.</a:t>
            </a:r>
          </a:p>
          <a:p xmlns:a="http://schemas.openxmlformats.org/drawingml/2006/main">
            <a:pPr algn="ctr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No calcules todavía.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4EEF8D-3BF1-45C9-938F-C7A3D976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100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Después tendrás que defender tu elección.</a:t>
            </a:r>
          </a:p>
        </p:txBody>
      </p:sp>
    </p:spTree>
    <p:extLst>
      <p:ext uri="{BB962C8B-B14F-4D97-AF65-F5344CB8AC3E}">
        <p14:creationId xmlns:p14="http://schemas.microsoft.com/office/powerpoint/2010/main" val="519205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AAC9BA-BA90-4E4B-954B-FE915F95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296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EB0DF-773D-4841-941C-375647FD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Prueba rápida antes de generalizar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32566-A144-4F06-B66C-4859986E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2126E-8B2F-49AC-AB37-A1075ADA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296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A9E7D-A83B-497B-8CBE-177CAABF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Con n =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20B8C3-FAF8-4BAA-A0A7-2B2397C2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676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1+2+3+4+5+6+7+8+9+10 = 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CC108-A938-4435-8DE9-C479949B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5048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2C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78DE7-A87E-4B22-AA6F-86E6CFCD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Emparejamiento correcto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05CB50-65E8-4129-AB46-4D5E3353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(1+10)+(2+9)+…+(5+6)</a:t>
            </a:r>
          </a:p>
          <a:p xmlns:a="http://schemas.openxmlformats.org/drawingml/2006/main">
            <a:pPr algn="ctr">
              <a:defRPr sz="195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5 pares × 11 = 55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C8607E-5041-48DC-8C1A-6416F23D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14625"/>
            <a:ext cx="5048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2C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40011-5BCA-4047-B58B-565A5B75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051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Fórmula correcta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FE2DF6-CCFA-4930-839F-27823093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76625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S(n) = n(n+1)/2</a:t>
            </a:r>
          </a:p>
          <a:p xmlns:a="http://schemas.openxmlformats.org/drawingml/2006/main">
            <a:pPr algn="ctr">
              <a:defRPr sz="21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S(10) = 10×11/2 = 55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30934-F76D-4A9A-AB62-C6592EAA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Para 1+…+n aparece n+1. Usar n−1 produce una suma distinta.</a:t>
            </a:r>
          </a:p>
        </p:txBody>
      </p:sp>
    </p:spTree>
    <p:extLst>
      <p:ext uri="{BB962C8B-B14F-4D97-AF65-F5344CB8AC3E}">
        <p14:creationId xmlns:p14="http://schemas.microsoft.com/office/powerpoint/2010/main" val="391281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22C6FA-B7A6-40A4-9CD7-B806258A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296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7C693-75B5-4FED-A0DD-71A30CE5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Los tres procedimientos no crecen igual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C74D4-31D1-41B8-9E43-2586D38A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6EBE3-65A2-4CA3-8F34-FFDBC684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296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E5BCE-A637-49EA-B90E-5984471F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3333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suma = 0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para i = 1,…,n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suma = suma + 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56359-3D81-4993-95FF-4A218F23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381125"/>
            <a:ext cx="3333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suma = 0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para i = 1,…,⌊n/2⌋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suma += i + (n+1−i)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si n es impar, sumar el centro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91201-BB5F-4205-A4E5-C250126E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81125"/>
            <a:ext cx="3333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suma = n(n+1)/2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31EC0-F764-4DA1-A46C-2733C505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n actualizaciones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7BEE93-6064-4FD6-9105-6719123F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2900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≈ n/2 iteraciones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B4AB78-57B2-4F2F-BBCB-2E69422C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2900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operaciones constantes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6A4A6-E058-44F3-B782-22282A25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Emparejar reduce iteraciones, pero sigue siendo lineal si recorremos los pares. La simplificación algebraica permite tiempo constante.</a:t>
            </a:r>
          </a:p>
        </p:txBody>
      </p:sp>
    </p:spTree>
    <p:extLst>
      <p:ext uri="{BB962C8B-B14F-4D97-AF65-F5344CB8AC3E}">
        <p14:creationId xmlns:p14="http://schemas.microsoft.com/office/powerpoint/2010/main" val="5174715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0EFF3-D71C-4030-A7AF-0786F0EA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296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4A378-84D5-4989-B4B2-AC85F0A7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Del pseudocódigo al programa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A305A-24D3-43C2-8FC8-E636ECAC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00AD5-F484-4637-9785-617C7C2F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296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5AF51-799E-425A-9204-2D23F3EF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477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Primero razonamos con pseudocódigo. Después comprobamos la misma idea en dos lenguajes.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0486F-173D-46B7-A30B-74C7E150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5143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MATLAB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function s = suma_formula(n)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s = n * (n + 1) / 2;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7EE48-CD68-4345-B982-37286751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5143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PYTHON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def suma_formula(n):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return n * (n + 1) //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08668-8A13-46F8-888E-724C9F44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La sintaxis cambia. La precondición, la fórmula y el orden O(1) permanecen.</a:t>
            </a:r>
          </a:p>
        </p:txBody>
      </p:sp>
    </p:spTree>
    <p:extLst>
      <p:ext uri="{BB962C8B-B14F-4D97-AF65-F5344CB8AC3E}">
        <p14:creationId xmlns:p14="http://schemas.microsoft.com/office/powerpoint/2010/main" val="19600811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641127-CC64-4412-8562-DE6FD448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296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3701C-75B4-41CE-AF39-A4E265DB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Cuando n crece, la diferencia se vuelve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8D7F6-A128-4665-A099-FE233E57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C6E05-10FD-4B7E-A3B7-EF804599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2962"/>
          </a:solidFill>
          <a:ln xmlns:a="http://schemas.openxmlformats.org/drawingml/2006/main" w="0">
            <a:noFill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62000" y="142875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97bb5c8974417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38155-9079-473C-90A0-357555DF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24000"/>
            <a:ext cx="2952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2C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94D4E-8CA9-4013-9BA7-D43A7804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050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Fórmula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0627A-B3A9-4F9B-9300-6C28C9C7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67000"/>
            <a:ext cx="228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El número de operaciones no depende de 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C319E3-9509-40F4-9C2E-E03C4480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052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O(1)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387CF0-0EEC-4BD0-88EE-F8ADF12C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La gráfica compara iteraciones, no segundos de una computadora particular.</a:t>
            </a:r>
          </a:p>
        </p:txBody>
      </p:sp>
    </p:spTree>
    <p:extLst>
      <p:ext uri="{BB962C8B-B14F-4D97-AF65-F5344CB8AC3E}">
        <p14:creationId xmlns:p14="http://schemas.microsoft.com/office/powerpoint/2010/main" val="8579508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AB800D-9621-4DB3-AD4A-7199A253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296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305F2-6EA4-45FB-AB43-0CF908D2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¿Qué significa que un algoritmo sea bueno?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FBCDC-481F-4586-A53F-3C4C05D4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6D3485-8FEA-4845-9CBC-E2247315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296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D1244-F7F7-4357-937D-B6C71C87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BA315-7334-45E3-9DC0-7DB574C2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3811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Corrección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18E29D-960F-4DAA-B78B-ECBA4305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81125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Produce la salida prometida para toda entrada válida.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8FA10-9B0F-4275-B0D3-4621FEF2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670BE2-9D23-42E5-A900-92692049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860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Trabajo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A20078-96C3-4456-8998-49F2EA0A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8600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Cuenta operaciones básicas en función del tamaño.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20F14C-1E29-4ACD-A38D-9A9BC4E4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39E44A-2DF8-4FB0-A8B8-8F08EC8A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1908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Espacio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3B9527-2E52-4888-9370-2E971FA1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90875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Considera memoria adicional y representación de datos.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0FBDE1-E801-43E0-9096-4589C016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4B1D32-2902-4F94-A2D5-F838D555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9575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Claridad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091489-1999-4583-996F-C6CD8572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9575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Facilita comprender, verificar e implementar.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04CB77-5143-4DA6-BB95-1897A40B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0062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7D3AC7-9FB2-41B1-A984-886DFC30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0006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Optimalidad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D8597A-FD4D-411E-A030-EF6A9BBF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00625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Pregunta si algún algoritmo podría hacerlo mejor.</a:t>
            </a:r>
          </a:p>
        </p:txBody>
      </p:sp>
    </p:spTree>
    <p:extLst>
      <p:ext uri="{BB962C8B-B14F-4D97-AF65-F5344CB8AC3E}">
        <p14:creationId xmlns:p14="http://schemas.microsoft.com/office/powerpoint/2010/main" val="12594171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CFD83C-021E-4DB6-B408-BD34DE75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296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4D0F9-EB6A-46A8-9317-F907EA69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Corrección: promesa, proceso y resultado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12F221-A6B9-448A-86BC-27F779BE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FE7A1-6F40-4517-8131-6F81F76D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296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1A0CA-B8CF-43B4-A073-5511A554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24000"/>
            <a:ext cx="2857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2C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ABEC1-BCCC-42C8-8C6D-077E1902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621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CONDICIÓN PREVIA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816BF-CC2C-4D4A-BB37-EC981436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24125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n es un entero</a:t>
            </a:r>
          </a:p>
          <a:p xmlns:a="http://schemas.openxmlformats.org/drawingml/2006/main">
            <a:pPr algn="ctr">
              <a:defRPr sz="20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no negativo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6728E-3CB7-4C6F-82EF-06DB22C1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24000"/>
            <a:ext cx="2857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2C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F2CED-3F4B-44CC-B665-1C66024E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7621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ALGORITMO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4228E-F873-438C-8191-CB3CA5B1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24125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Termina y aplica</a:t>
            </a:r>
          </a:p>
          <a:p xmlns:a="http://schemas.openxmlformats.org/drawingml/2006/main">
            <a:pPr algn="ctr">
              <a:defRPr sz="20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la regla elegida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D0D50D-1484-4203-9BAD-4D1CC592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524000"/>
            <a:ext cx="2857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2C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DA7CFE-1D44-482B-9F0E-7E453575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621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CONDICIÓN POSTERIOR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3981FF-49AB-498C-A95E-392E07CB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24125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devuelve</a:t>
            </a:r>
          </a:p>
          <a:p xmlns:a="http://schemas.openxmlformats.org/drawingml/2006/main">
            <a:pPr algn="ctr">
              <a:defRPr sz="20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1+2+…+n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233CF3-3B5C-4D00-BF5E-99062B6D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Probar con 10 detecta errores. No demuestra corrección para todos los valores de n.</a:t>
            </a:r>
          </a:p>
        </p:txBody>
      </p:sp>
    </p:spTree>
    <p:extLst>
      <p:ext uri="{BB962C8B-B14F-4D97-AF65-F5344CB8AC3E}">
        <p14:creationId xmlns:p14="http://schemas.microsoft.com/office/powerpoint/2010/main" val="5958575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79985A-F798-4B68-88F3-8E699189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296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C57C9-1B3B-49C0-A6E8-D86F6DC4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Algoritmo y lenguaje de programación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FFC8F0-174C-4EA0-9695-E69792B8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B670A-5559-4656-8B4A-9D75EC60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296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FD33C2-36FD-42FE-97E0-1F1BD2BE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El libro usa Java como lenguaje algorítmico, pero busca separar la estrategia de los detalles del compilador.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4AC62-27D0-47B2-A222-134C84A1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81250"/>
            <a:ext cx="4476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2C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3E3B5-8E4D-4AFD-9844-EB079B78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19375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IDEA ALGORÍTMICA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460DE-3A48-4E09-9E0D-55C25ACB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0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Qué pasos resuelven el problema</a:t>
            </a:r>
          </a:p>
          <a:p xmlns:a="http://schemas.openxmlformats.org/drawingml/2006/main">
            <a:pPr algn="ctr">
              <a:defRPr sz="202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y por qué funcionan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EEB1CA-547D-4B48-AB27-E9F80825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81250"/>
            <a:ext cx="4476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2C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3777A6-18FA-48C5-812D-0EA6AC00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19375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IMPLEMENTACIÓN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5FE16-2D35-49FB-B309-438277E9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33750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Cómo se expresan los pasos</a:t>
            </a:r>
          </a:p>
          <a:p xmlns:a="http://schemas.openxmlformats.org/drawingml/2006/main">
            <a:pPr algn="ctr">
              <a:defRPr sz="202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en Java, MATLAB u otro lenguaje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E2E903-D818-41B8-BA8E-045FD954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Hoy evaluamos la idea con pseudocódigo.</a:t>
            </a:r>
          </a:p>
        </p:txBody>
      </p:sp>
    </p:spTree>
    <p:extLst>
      <p:ext uri="{BB962C8B-B14F-4D97-AF65-F5344CB8AC3E}">
        <p14:creationId xmlns:p14="http://schemas.microsoft.com/office/powerpoint/2010/main" val="10846807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A43D3D-343F-4F60-93DA-FC944016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296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BB6D0-EB53-4A0D-BB4F-7411746D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Medir trabajo sin depender de la computadora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E2325-407B-452F-9E1A-B508A53B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4C60F-6D3F-469D-A96F-08814C01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296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D3B71-9A41-44C9-982C-6AFF60ED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El tiempo observado cambia con el equipo, el lenguaje y la implementación.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6D76A-8F3F-4FB7-A3F6-75F9DC8D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Problema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868370-348A-4C82-8210-B5449DD9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38375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Operación básica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AE6E6-AB0A-4588-9F4B-7931BE81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8F50C6-5B0E-4320-946B-78A85D1C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Buscar una clave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01C87-690E-460E-936F-7BEF7719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7500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Comparar con un elemento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69D686-4275-4A57-A5B8-30002A2C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9FEA0-662F-4DF6-8266-CCDA560E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195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Ordenar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B65F11-216B-4323-B96E-3F72A702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19500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Comparar dos elementos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EF7CDC-5853-412C-A522-BA85FBFB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6F0985-4D31-4911-A938-DCDF8B96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815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Multiplicar matrices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363EF5-2B34-4FFA-B22B-4E333D39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81500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Multiplicar y sumar entradas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543287-B8B2-4756-9C15-A1D1B5EC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Elegir bien la operación básica define qué estamos comparando.</a:t>
            </a:r>
          </a:p>
        </p:txBody>
      </p:sp>
    </p:spTree>
    <p:extLst>
      <p:ext uri="{BB962C8B-B14F-4D97-AF65-F5344CB8AC3E}">
        <p14:creationId xmlns:p14="http://schemas.microsoft.com/office/powerpoint/2010/main" val="17485760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C797A5-1576-4200-AC3F-1D06BF42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296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2762F0-B7DF-449F-9FFC-568954A7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El tamaño de entrada es parte del problema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7369D7-68D7-4BF7-BA3D-A7A9FD7C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FDB13-0D41-47DF-B7DC-BFD2944E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296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95B01-0B12-4DE7-80A8-C7F6F2BA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n no siempre significa lo mismo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A2F3D-BF3C-46D5-B563-5FE1FB84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478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Arreglo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DF5FD3-3C3B-4656-8E38-22FB52C4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47875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número de elementos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1799F-FFA5-4A91-AF32-FBC20460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27F93-2F17-44E1-B452-ED246891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Matriz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37541-90DA-4D1E-B5C8-B1FD7DA2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filas y columnas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B16A9E-8989-4E64-8323-8D39ED6F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9567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241611-F713-4354-A0B6-6196D636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671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Árbol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B553CA-CA34-4BBE-AD9B-347F954E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67125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número de nodos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158EA7-FD65-46EC-8806-0B96DBB8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290522-23BF-402D-AB5C-29A0F178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67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Grafo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63CDF4-9C9F-4467-AE04-B7A2B491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nodos y aristas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D03D88-07DD-479D-9CD0-72E62D4D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Una comparación justa declara qué representa n.</a:t>
            </a:r>
          </a:p>
        </p:txBody>
      </p:sp>
    </p:spTree>
    <p:extLst>
      <p:ext uri="{BB962C8B-B14F-4D97-AF65-F5344CB8AC3E}">
        <p14:creationId xmlns:p14="http://schemas.microsoft.com/office/powerpoint/2010/main" val="10752547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02F6B9-8334-44F2-B1DD-A7A76AB4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296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557EE8-3088-4F3D-8D22-BD0E3EF3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Una misma n puede producir trabajos distintos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6D320C-3653-4B9F-B7FC-D97FC045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CBE90-8527-4CF7-96BE-FA129619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296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DB791-A102-450F-B324-199DB484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BÚSQUEDA DE UNA CLAVE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02CA5-704A-4EEB-B875-7B9FFDC0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05000"/>
            <a:ext cx="3048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2C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7FA0C-AF79-4B02-B1D8-C79AFE60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4312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Mejor caso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B8A95-272B-4F92-AAB6-B3FDF99F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952750"/>
            <a:ext cx="247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La clave aparece</a:t>
            </a:r>
          </a:p>
          <a:p xmlns:a="http://schemas.openxmlformats.org/drawingml/2006/main">
            <a:pPr algn="ctr">
              <a:defRPr sz="195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al inicio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5CB2E2-C408-472D-9F5B-D4D99225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0050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6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2E7D66"/>
                </a:solidFill>
                <a:latin typeface="Bitstream Charter"/>
                <a:ea typeface="Bitstream Charter"/>
                <a:cs typeface="Bitstream Charter"/>
              </a:rPr>
              <a:t>1 comparación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D4C55D-278C-414B-A3A7-D4FEE8CD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05000"/>
            <a:ext cx="3048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2C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AF99EF-31D9-453C-AF2B-0A0840D6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4312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Caso promedio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71466-15C6-4F05-ABED-FF9B6AC2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52750"/>
            <a:ext cx="247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Requiere un modelo</a:t>
            </a:r>
          </a:p>
          <a:p xmlns:a="http://schemas.openxmlformats.org/drawingml/2006/main">
            <a:pPr algn="ctr">
              <a:defRPr sz="195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de probabilidades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A5DA0-29A3-46B2-AE6C-EE77B469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0050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7B9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E7B94C"/>
                </a:solidFill>
                <a:latin typeface="Bitstream Charter"/>
                <a:ea typeface="Bitstream Charter"/>
                <a:cs typeface="Bitstream Charter"/>
              </a:rPr>
              <a:t>depende de supuestos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BA4672-B0DC-467F-A8C2-6A3C3138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05000"/>
            <a:ext cx="3048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2C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460995-FD45-4466-A8CC-24A9906F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4312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Peor caso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BF299E-7091-4D3C-9781-D2190B87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52750"/>
            <a:ext cx="247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La clave está al final</a:t>
            </a:r>
          </a:p>
          <a:p xmlns:a="http://schemas.openxmlformats.org/drawingml/2006/main">
            <a:pPr algn="ctr">
              <a:defRPr sz="195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o no aparece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32D0A7-7170-4A96-93BF-AA5E329D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00050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n comparaciones</a:t>
            </a:r>
          </a:p>
        </p:txBody>
      </p:sp>
    </p:spTree>
    <p:extLst>
      <p:ext uri="{BB962C8B-B14F-4D97-AF65-F5344CB8AC3E}">
        <p14:creationId xmlns:p14="http://schemas.microsoft.com/office/powerpoint/2010/main" val="12469014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2837CB-BE97-4017-83A8-785DDB28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296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96187-4B1D-4D66-9BC6-8AFA301B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Actividad en parejas: defender una elección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18080-867E-4102-A302-FBEB2652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3BF9B-636C-4E86-9F22-9AFCBAF1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296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F7FEB-1117-42F4-B7C3-2F31B947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Para n = 1 000 000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9A10C-89C9-4287-97CF-9754EB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43125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1. Escriban el pseudocódigo de su método.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10D76-D2BE-4178-B59D-1BDADB84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95275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2. Definan la operación básica y cuéntenla.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AD541-D053-4218-852F-DF483CCF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62375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3. Especifiquen precondición y postcondición.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6C7FFE-079B-470B-8549-8E342765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720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4. Identifiquen un riesgo de implementación.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334CF4-DBDB-4B80-A15A-2942219B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Producto: una justificación de 90 segundos, no sólo el resultado.</a:t>
            </a:r>
          </a:p>
        </p:txBody>
      </p:sp>
    </p:spTree>
    <p:extLst>
      <p:ext uri="{BB962C8B-B14F-4D97-AF65-F5344CB8AC3E}">
        <p14:creationId xmlns:p14="http://schemas.microsoft.com/office/powerpoint/2010/main" val="1707020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37064-61FD-47A3-A75D-4005F9A0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296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D3294-7EDA-4625-9E0A-BE2A5EC7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Riesgo real: el tipo de dato también importa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6E448-BF2A-443C-8415-EA097D4B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BDA16-76C6-494A-BCAB-6EA48EBF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296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14A53-CA99-4A09-B07E-C0C5569E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8587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n(n+1)/2 puede desbordar un entero durante la multiplicación, incluso si la división posterior reduciría el valor.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31131-AF6B-406F-8B13-226CAE95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14625"/>
            <a:ext cx="7334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// alternativa de implementación</a:t>
            </a:r>
          </a:p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si n es par:   (n/2)·(n+1)</a:t>
            </a:r>
          </a:p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si n es impar: n·((n+1)/2)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A68ACD-0ABB-4AF3-8FEC-288DB3B5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9587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La fórmula mejora el orden de crecimiento. La implementación aún debe preservar la corrección.</a:t>
            </a:r>
          </a:p>
        </p:txBody>
      </p:sp>
    </p:spTree>
    <p:extLst>
      <p:ext uri="{BB962C8B-B14F-4D97-AF65-F5344CB8AC3E}">
        <p14:creationId xmlns:p14="http://schemas.microsoft.com/office/powerpoint/2010/main" val="11143357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1168D-5BC5-4B0D-A8B3-1BA0F2AB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296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3BFE6-FB66-4C46-9111-ED374C34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Cierre: del voto a la evidencia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02FDA-B5A9-40DD-9BD2-C5B9DF7B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89B55-DACA-4136-9881-C891BEEA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296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24DC0-275C-4EE1-A013-69ABA085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Responde en una tarjeta o en el aula virtual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F1821-F3DA-49A3-A7E5-43375372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10096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2C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E79CC-6B27-47C7-9B69-EA42AA1C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86000"/>
            <a:ext cx="942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¿Cuál método elegirías ahora y para qué valores de 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760E27-16CD-4F76-A585-0013C2CD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10096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2C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8943AF-0B86-43A0-A567-9671B84C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14750"/>
            <a:ext cx="942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¿Qué evidencia cambió o confirmó tu voto inicial?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AE206-526D-411D-9387-59FF6F96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Próxima exposición: crecimiento asintótico y búsqueda en arreglos ordenados.</a:t>
            </a:r>
          </a:p>
        </p:txBody>
      </p:sp>
    </p:spTree>
    <p:extLst>
      <p:ext uri="{BB962C8B-B14F-4D97-AF65-F5344CB8AC3E}">
        <p14:creationId xmlns:p14="http://schemas.microsoft.com/office/powerpoint/2010/main" val="18166254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2026-09-21T13:35:38.7950000Z</dcterms:created>
  <dcterms:modified xsi:type="dcterms:W3CDTF">2026-09-21T13:35:38.7950000Z</dcterms:modified>
</coreProperties>
</file>