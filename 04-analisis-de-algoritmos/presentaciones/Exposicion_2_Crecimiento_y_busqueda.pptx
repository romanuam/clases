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fca2be9b644ee" /><Relationship Type="http://schemas.openxmlformats.org/officeDocument/2006/relationships/extended-properties" Target="/docProps/app.xml" Id="Rc51d0099e59c4a16" /><Relationship Type="http://schemas.openxmlformats.org/officeDocument/2006/relationships/officeDocument" Target="/ppt/presentation.xml" Id="Rc7f8e2b5807e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0ce5f9305b44aa"/>
  </p:sldMasterIdLst>
  <p:notesMasterIdLst>
    <p:notesMasterId xmlns:r="http://schemas.openxmlformats.org/officeDocument/2006/relationships" r:id="R0da18377b8064d79"/>
  </p:notesMasterIdLst>
  <p:sldIdLst>
    <p:sldId xmlns:r="http://schemas.openxmlformats.org/officeDocument/2006/relationships" id="256" r:id="Rd4f8605d945c4e2c"/>
    <p:sldId xmlns:r="http://schemas.openxmlformats.org/officeDocument/2006/relationships" id="257" r:id="R4c4f68218816430e"/>
    <p:sldId xmlns:r="http://schemas.openxmlformats.org/officeDocument/2006/relationships" id="258" r:id="R6f210358a82e4caa"/>
    <p:sldId xmlns:r="http://schemas.openxmlformats.org/officeDocument/2006/relationships" id="259" r:id="R6a8a054197df4cfb"/>
    <p:sldId xmlns:r="http://schemas.openxmlformats.org/officeDocument/2006/relationships" id="260" r:id="Rcddd8e9936c4438a"/>
    <p:sldId xmlns:r="http://schemas.openxmlformats.org/officeDocument/2006/relationships" id="261" r:id="Rf6702a725fd74256"/>
    <p:sldId xmlns:r="http://schemas.openxmlformats.org/officeDocument/2006/relationships" id="262" r:id="R40ef2f56ae7540fb"/>
    <p:sldId xmlns:r="http://schemas.openxmlformats.org/officeDocument/2006/relationships" id="263" r:id="Rbc0585f8ff294a07"/>
    <p:sldId xmlns:r="http://schemas.openxmlformats.org/officeDocument/2006/relationships" id="264" r:id="Racd933004b624425"/>
    <p:sldId xmlns:r="http://schemas.openxmlformats.org/officeDocument/2006/relationships" id="265" r:id="Rfabd7788313e44f9"/>
    <p:sldId xmlns:r="http://schemas.openxmlformats.org/officeDocument/2006/relationships" id="266" r:id="R802a1822db6445b9"/>
    <p:sldId xmlns:r="http://schemas.openxmlformats.org/officeDocument/2006/relationships" id="267" r:id="R7d6ddc7c3c9c451a"/>
    <p:sldId xmlns:r="http://schemas.openxmlformats.org/officeDocument/2006/relationships" id="268" r:id="Rae99dfb4408848d2"/>
    <p:sldId xmlns:r="http://schemas.openxmlformats.org/officeDocument/2006/relationships" id="269" r:id="R7009a1cdd3b14cde"/>
    <p:sldId xmlns:r="http://schemas.openxmlformats.org/officeDocument/2006/relationships" id="270" r:id="R29e2019890bf4e72"/>
    <p:sldId xmlns:r="http://schemas.openxmlformats.org/officeDocument/2006/relationships" id="271" r:id="Re35a21fd2e4846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5e48f7a99646c4" /><Relationship Type="http://schemas.openxmlformats.org/officeDocument/2006/relationships/slideMaster" Target="/ppt/slideMasters/slideMaster1.xml" Id="Ra20ce5f9305b44aa" /><Relationship Type="http://schemas.openxmlformats.org/officeDocument/2006/relationships/notesMaster" Target="/ppt/notesMasters/notesMaster1.xml" Id="R0da18377b8064d79" /><Relationship Type="http://schemas.openxmlformats.org/officeDocument/2006/relationships/presProps" Target="/ppt/presProps.xml" Id="Reedf25e67f6642c5" /><Relationship Type="http://schemas.openxmlformats.org/officeDocument/2006/relationships/tableStyles" Target="/ppt/tableStyles.xml" Id="R2371582f9a9144b7" /><Relationship Type="http://schemas.openxmlformats.org/officeDocument/2006/relationships/slide" Target="/ppt/slides/slide1.xml" Id="Rd4f8605d945c4e2c" /><Relationship Type="http://schemas.openxmlformats.org/officeDocument/2006/relationships/slide" Target="/ppt/slides/slide2.xml" Id="R4c4f68218816430e" /><Relationship Type="http://schemas.openxmlformats.org/officeDocument/2006/relationships/slide" Target="/ppt/slides/slide3.xml" Id="R6f210358a82e4caa" /><Relationship Type="http://schemas.openxmlformats.org/officeDocument/2006/relationships/slide" Target="/ppt/slides/slide4.xml" Id="R6a8a054197df4cfb" /><Relationship Type="http://schemas.openxmlformats.org/officeDocument/2006/relationships/slide" Target="/ppt/slides/slide5.xml" Id="Rcddd8e9936c4438a" /><Relationship Type="http://schemas.openxmlformats.org/officeDocument/2006/relationships/slide" Target="/ppt/slides/slide6.xml" Id="Rf6702a725fd74256" /><Relationship Type="http://schemas.openxmlformats.org/officeDocument/2006/relationships/slide" Target="/ppt/slides/slide7.xml" Id="R40ef2f56ae7540fb" /><Relationship Type="http://schemas.openxmlformats.org/officeDocument/2006/relationships/slide" Target="/ppt/slides/slide8.xml" Id="Rbc0585f8ff294a07" /><Relationship Type="http://schemas.openxmlformats.org/officeDocument/2006/relationships/slide" Target="/ppt/slides/slide9.xml" Id="Racd933004b624425" /><Relationship Type="http://schemas.openxmlformats.org/officeDocument/2006/relationships/slide" Target="/ppt/slides/slide10.xml" Id="Rfabd7788313e44f9" /><Relationship Type="http://schemas.openxmlformats.org/officeDocument/2006/relationships/slide" Target="/ppt/slides/slide11.xml" Id="R802a1822db6445b9" /><Relationship Type="http://schemas.openxmlformats.org/officeDocument/2006/relationships/slide" Target="/ppt/slides/slide12.xml" Id="R7d6ddc7c3c9c451a" /><Relationship Type="http://schemas.openxmlformats.org/officeDocument/2006/relationships/slide" Target="/ppt/slides/slide13.xml" Id="Rae99dfb4408848d2" /><Relationship Type="http://schemas.openxmlformats.org/officeDocument/2006/relationships/slide" Target="/ppt/slides/slide14.xml" Id="R7009a1cdd3b14cde" /><Relationship Type="http://schemas.openxmlformats.org/officeDocument/2006/relationships/slide" Target="/ppt/slides/slide15.xml" Id="R29e2019890bf4e72" /><Relationship Type="http://schemas.openxmlformats.org/officeDocument/2006/relationships/slide" Target="/ppt/slides/slide16.xml" Id="Re35a21fd2e4846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7779d404874e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061ad4c92444c8" /><Relationship Type="http://schemas.openxmlformats.org/officeDocument/2006/relationships/notesMaster" Target="/ppt/notesMasters/notesMaster1.xml" Id="Ra8d9411c4f9d49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8a7f75c46a4b34" /><Relationship Type="http://schemas.openxmlformats.org/officeDocument/2006/relationships/notesMaster" Target="/ppt/notesMasters/notesMaster1.xml" Id="R628660cefc114b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d26023149c4357" /><Relationship Type="http://schemas.openxmlformats.org/officeDocument/2006/relationships/notesMaster" Target="/ppt/notesMasters/notesMaster1.xml" Id="R3143e436a6dd4e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4312f813e5451a" /><Relationship Type="http://schemas.openxmlformats.org/officeDocument/2006/relationships/notesMaster" Target="/ppt/notesMasters/notesMaster1.xml" Id="Rb8fcea8678bd4b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90a76572a24208" /><Relationship Type="http://schemas.openxmlformats.org/officeDocument/2006/relationships/notesMaster" Target="/ppt/notesMasters/notesMaster1.xml" Id="R0c9bee0d45c847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ae6d0749b04359" /><Relationship Type="http://schemas.openxmlformats.org/officeDocument/2006/relationships/notesMaster" Target="/ppt/notesMasters/notesMaster1.xml" Id="R7b9033b232e948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551815f43c43db" /><Relationship Type="http://schemas.openxmlformats.org/officeDocument/2006/relationships/notesMaster" Target="/ppt/notesMasters/notesMaster1.xml" Id="R39f633d50c194c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b6bb581e3f48a2" /><Relationship Type="http://schemas.openxmlformats.org/officeDocument/2006/relationships/notesMaster" Target="/ppt/notesMasters/notesMaster1.xml" Id="R5fde4eeb3c5e47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4be27b366a4d28" /><Relationship Type="http://schemas.openxmlformats.org/officeDocument/2006/relationships/notesMaster" Target="/ppt/notesMasters/notesMaster1.xml" Id="R7791d26ba79f48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a13ccc1ea34bc9" /><Relationship Type="http://schemas.openxmlformats.org/officeDocument/2006/relationships/notesMaster" Target="/ppt/notesMasters/notesMaster1.xml" Id="R58ba944422424c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e2511df23c47a4" /><Relationship Type="http://schemas.openxmlformats.org/officeDocument/2006/relationships/notesMaster" Target="/ppt/notesMasters/notesMaster1.xml" Id="R485067b1fa8e48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d6cf2780104332" /><Relationship Type="http://schemas.openxmlformats.org/officeDocument/2006/relationships/notesMaster" Target="/ppt/notesMasters/notesMaster1.xml" Id="R1ce7f5a5a8424f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8f03c7de9548ed" /><Relationship Type="http://schemas.openxmlformats.org/officeDocument/2006/relationships/notesMaster" Target="/ppt/notesMasters/notesMaster1.xml" Id="R6b9744b462a540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45f0cf4dc84d9f" /><Relationship Type="http://schemas.openxmlformats.org/officeDocument/2006/relationships/notesMaster" Target="/ppt/notesMasters/notesMaster1.xml" Id="Rbbfa02aaa5924c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ef3b0509cb48b5" /><Relationship Type="http://schemas.openxmlformats.org/officeDocument/2006/relationships/notesMaster" Target="/ppt/notesMasters/notesMaster1.xml" Id="Rbd34fc215eb04e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2f9d22b6294c1f" /><Relationship Type="http://schemas.openxmlformats.org/officeDocument/2006/relationships/notesMaster" Target="/ppt/notesMasters/notesMaster1.xml" Id="R2628472cbdb94e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62–89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60–63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63–66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64–68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63–72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72–74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74–75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75–76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76–77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77–78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77–79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23–30, 77–80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79–80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77–80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61–63, 82–84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Baase y Van Gelder, Algoritmos computacionales, páginas PDF 74–84 del archivo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c76015f184f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8a4f69e81c488c" /><Relationship Type="http://schemas.openxmlformats.org/officeDocument/2006/relationships/slideLayout" Target="/ppt/slideLayouts/slideLayout1.xml" Id="Racb673509b4e47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b673509b4e47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40eb199d6480a" /><Relationship Type="http://schemas.openxmlformats.org/officeDocument/2006/relationships/notesSlide" Target="/ppt/notesSlides/notesSlide1.xml" Id="R3c2920d85bba41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00a5479aa4aee" /><Relationship Type="http://schemas.openxmlformats.org/officeDocument/2006/relationships/notesSlide" Target="/ppt/notesSlides/notesSlide2.xml" Id="R9971c62e416445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d86fa69534bf0" /><Relationship Type="http://schemas.openxmlformats.org/officeDocument/2006/relationships/chart" Target="/ppt/slides/charts/chart1.xml" Id="R84960953ac8e49fe" /><Relationship Type="http://schemas.openxmlformats.org/officeDocument/2006/relationships/notesSlide" Target="/ppt/notesSlides/notesSlide3.xml" Id="R4e492547126d46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d315d6ff14bb2" /><Relationship Type="http://schemas.openxmlformats.org/officeDocument/2006/relationships/notesSlide" Target="/ppt/notesSlides/notesSlide4.xml" Id="R8bc577be15a94b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39c6fb04f466c" /><Relationship Type="http://schemas.openxmlformats.org/officeDocument/2006/relationships/chart" Target="/ppt/slides/charts/chart2.xml" Id="Red43aca48d2b436e" /><Relationship Type="http://schemas.openxmlformats.org/officeDocument/2006/relationships/notesSlide" Target="/ppt/notesSlides/notesSlide5.xml" Id="R5750f437931f4d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9a7149bec4d4c" /><Relationship Type="http://schemas.openxmlformats.org/officeDocument/2006/relationships/notesSlide" Target="/ppt/notesSlides/notesSlide6.xml" Id="Rfecadeab2ff04c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eca19ea894005" /><Relationship Type="http://schemas.openxmlformats.org/officeDocument/2006/relationships/notesSlide" Target="/ppt/notesSlides/notesSlide7.xml" Id="R5bc8bce23eea48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bc331eca44a67" /><Relationship Type="http://schemas.openxmlformats.org/officeDocument/2006/relationships/notesSlide" Target="/ppt/notesSlides/notesSlide8.xml" Id="R655d9785befb4b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6bebd531a45c1" /><Relationship Type="http://schemas.openxmlformats.org/officeDocument/2006/relationships/notesSlide" Target="/ppt/notesSlides/notesSlide9.xml" Id="R060068094fac4b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cbe9ee16e42df" /><Relationship Type="http://schemas.openxmlformats.org/officeDocument/2006/relationships/notesSlide" Target="/ppt/notesSlides/notesSlide10.xml" Id="Rb7d090ee0e904f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75aefeb494569" /><Relationship Type="http://schemas.openxmlformats.org/officeDocument/2006/relationships/notesSlide" Target="/ppt/notesSlides/notesSlide11.xml" Id="R451876f2f9dc48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89b80643d4e9b" /><Relationship Type="http://schemas.openxmlformats.org/officeDocument/2006/relationships/notesSlide" Target="/ppt/notesSlides/notesSlide12.xml" Id="R6ae46e23384a46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9049b6f954acb" /><Relationship Type="http://schemas.openxmlformats.org/officeDocument/2006/relationships/notesSlide" Target="/ppt/notesSlides/notesSlide13.xml" Id="R3a02d02998b64f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4e218852c4843" /><Relationship Type="http://schemas.openxmlformats.org/officeDocument/2006/relationships/notesSlide" Target="/ppt/notesSlides/notesSlide14.xml" Id="R98a8ee3b039f4f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635b2c67a4440" /><Relationship Type="http://schemas.openxmlformats.org/officeDocument/2006/relationships/notesSlide" Target="/ppt/notesSlides/notesSlide15.xml" Id="R5e0858adca664b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9f8688d154744" /><Relationship Type="http://schemas.openxmlformats.org/officeDocument/2006/relationships/notesSlide" Target="/ppt/notesSlides/notesSlide16.xml" Id="Rd12bd70602cf474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20n</c:v>
          </c:tx>
          <c:spPr>
            <a:ln xmlns:a="http://schemas.openxmlformats.org/drawingml/2006/main" w="38100">
              <a:solidFill>
                <a:srgbClr val="B62962"/>
              </a:solidFill>
            </a:ln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40</c:v>
                </c:pt>
                <c:pt idx="3">
                  <c:v>80</c:v>
                </c:pt>
                <c:pt idx="4">
                  <c:v>160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200</c:v>
                </c:pt>
                <c:pt idx="1">
                  <c:v>400</c:v>
                </c:pt>
                <c:pt idx="2">
                  <c:v>800</c:v>
                </c:pt>
                <c:pt idx="3">
                  <c:v>1600</c:v>
                </c:pt>
                <c:pt idx="4">
                  <c:v>3200</c:v>
                </c:pt>
              </c:numCache>
            </c:numRef>
          </c:val>
        </c:ser>
        <c:ser>
          <c:idx val="1"/>
          <c:order val="1"/>
          <c:tx>
            <c:v>n²</c:v>
          </c:tx>
          <c:spPr>
            <a:ln xmlns:a="http://schemas.openxmlformats.org/drawingml/2006/main" w="38100">
              <a:solidFill>
                <a:srgbClr val="66C7D5"/>
              </a:solidFill>
            </a:ln>
          </c:spPr>
          <c:marker>
            <c:symbol val="none"/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40</c:v>
                </c:pt>
                <c:pt idx="3">
                  <c:v>80</c:v>
                </c:pt>
                <c:pt idx="4">
                  <c:v>160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1600</c:v>
                </c:pt>
                <c:pt idx="3">
                  <c:v>6400</c:v>
                </c:pt>
                <c:pt idx="4">
                  <c:v>25600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Bitstream Charter"/>
              <a:ea typeface="Bitstream Charter"/>
              <a:cs typeface="Bitstream Charter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log₂n</c:v>
          </c:tx>
          <c:spPr>
            <a:ln xmlns:a="http://schemas.openxmlformats.org/drawingml/2006/main" w="28575">
              <a:solidFill>
                <a:srgbClr val="2E7D66"/>
              </a:solidFill>
            </a:ln>
          </c:spPr>
          <c:marker>
            <c:symbol val="none"/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v>n</c:v>
          </c:tx>
          <c:spPr>
            <a:ln xmlns:a="http://schemas.openxmlformats.org/drawingml/2006/main" w="28575">
              <a:solidFill>
                <a:srgbClr val="66C7D5"/>
              </a:solidFill>
            </a:ln>
          </c:spPr>
          <c:marker>
            <c:symbol val="none"/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</c:numCache>
            </c:numRef>
          </c:val>
        </c:ser>
        <c:ser>
          <c:idx val="2"/>
          <c:order val="2"/>
          <c:tx>
            <c:v>n log₂n</c:v>
          </c:tx>
          <c:spPr>
            <a:ln xmlns:a="http://schemas.openxmlformats.org/drawingml/2006/main" w="28575">
              <a:solidFill>
                <a:srgbClr val="E7B94C"/>
              </a:solidFill>
            </a:ln>
          </c:spPr>
          <c:marker>
            <c:symbol val="none"/>
          </c:marker>
          <c:cat>
            <c:numRef>
              <c:f>'Chart Data'!$E$2:$E$6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</c:numCache>
            </c:num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2</c:v>
                </c:pt>
                <c:pt idx="1">
                  <c:v>8</c:v>
                </c:pt>
                <c:pt idx="2">
                  <c:v>24</c:v>
                </c:pt>
                <c:pt idx="3">
                  <c:v>64</c:v>
                </c:pt>
                <c:pt idx="4">
                  <c:v>160</c:v>
                </c:pt>
              </c:numCache>
            </c:numRef>
          </c:val>
        </c:ser>
        <c:ser>
          <c:idx val="3"/>
          <c:order val="3"/>
          <c:tx>
            <c:v>n²</c:v>
          </c:tx>
          <c:spPr>
            <a:ln xmlns:a="http://schemas.openxmlformats.org/drawingml/2006/main" w="28575">
              <a:solidFill>
                <a:srgbClr val="B62962"/>
              </a:solidFill>
            </a:ln>
          </c:spPr>
          <c:marker>
            <c:symbol val="none"/>
          </c:marker>
          <c:cat>
            <c:numRef>
              <c:f>'Chart Data'!$G$2:$G$6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  <c:pt idx="4">
                  <c:v>32</c:v>
                </c:pt>
              </c:numCache>
            </c:numRef>
          </c:cat>
          <c:val>
            <c:numRef>
              <c:f>'Chart Data'!$H$2:$H$6</c:f>
              <c:numCache>
                <c:formatCode>General</c:formatCode>
                <c:ptCount val="5"/>
                <c:pt idx="0">
                  <c:v>4</c:v>
                </c:pt>
                <c:pt idx="1">
                  <c:v>16</c:v>
                </c:pt>
                <c:pt idx="2">
                  <c:v>64</c:v>
                </c:pt>
                <c:pt idx="3">
                  <c:v>256</c:v>
                </c:pt>
                <c:pt idx="4">
                  <c:v>1024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Bitstream Charter"/>
              <a:ea typeface="Bitstream Charter"/>
              <a:cs typeface="Bitstream Charter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1CCC1-DC72-48F6-8395-E13FCDFC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1909B-FC96-40F0-A790-71CBA663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EXPOSICIÓN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0BF5D-3965-4B0A-88FA-A8D1FC2E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Crecimiento y búsqueda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FBE94-8B1F-41AA-98AD-47C0B0DE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0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4F0E8"/>
                </a:solidFill>
                <a:latin typeface="Bitstream Charter"/>
                <a:ea typeface="Bitstream Charter"/>
                <a:cs typeface="Bitstream Charter"/>
              </a:rPr>
              <a:t>Cómo clasificar algoritmos y justificar por qué la búsqueda binaria cambia la escala del 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C714E-141D-4BA6-A64C-C8BEA919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86C0B-9EBE-4AE1-88C0-0290816C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B9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E7B94C"/>
                </a:solidFill>
                <a:latin typeface="Bitstream Charter"/>
                <a:ea typeface="Bitstream Charter"/>
                <a:cs typeface="Bitstream Charter"/>
              </a:rPr>
              <a:t>Páginas PDF 62–89 · análisis, comparación y aplicación</a:t>
            </a:r>
          </a:p>
        </p:txBody>
      </p:sp>
    </p:spTree>
    <p:extLst>
      <p:ext uri="{BB962C8B-B14F-4D97-AF65-F5344CB8AC3E}">
        <p14:creationId xmlns:p14="http://schemas.microsoft.com/office/powerpoint/2010/main" val="18799101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C7E29-152A-4E76-86E4-F016BEF1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82D37-CA07-4998-8DC0-BA446884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Punto de partida: cinco criterios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0F4F7-7ACC-4F06-8CFC-F96AA21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ED37E-AA9E-4C47-901F-8D556BEB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A5502-79D9-4BA8-9A75-170FA0E7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Corrección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EC4D5-5889-4163-A686-83C7AD95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8112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¿Entrega la salida prometida?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3195B-D249-48A2-BC15-F6846A70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Trabajo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0F3ED-2479-4AD5-9365-FB07E0AF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¿Cuántas operaciones básicas ejecuta?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028F3-4842-47FE-8A85-18BC7BD6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Espacio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AEE69-3DCC-4C88-9E26-8BAE8FA0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¿Cuánta memoria adicional requiere?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F72E9-17FC-4C5E-94B3-14A0A776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Claridad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51B6E-F128-497D-984F-AD41CFB4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5287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¿Podemos comprenderlo y verificarlo?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15FD5-FDED-4B9C-BFBA-C1CED43D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Optimalidad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21AD6-3FC9-4E6F-A736-6B0FD308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1012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¿Existe un algoritmo mejor?</a:t>
            </a:r>
          </a:p>
        </p:txBody>
      </p:sp>
    </p:spTree>
    <p:extLst>
      <p:ext uri="{BB962C8B-B14F-4D97-AF65-F5344CB8AC3E}">
        <p14:creationId xmlns:p14="http://schemas.microsoft.com/office/powerpoint/2010/main" val="20060120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1B616-ECA9-450E-A95D-0951FE8E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C4838-A614-4C18-BCCF-1DCBB235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La tasa de crecimiento domina a gran escala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A5A6B-07F8-4D13-AA94-B0D814D5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D8046-1664-4442-AC4B-107DB604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1C2FB-2025-4CA1-9655-7472D72B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Dos funciones pueden verse parecidas para entradas pequeñas y separarse cuando n crece.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382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960953ac8e49fe"/>
          </a:graphicData>
        </a:graphic>
      </p:graphicFrame>
    </p:spTree>
    <p:extLst>
      <p:ext uri="{BB962C8B-B14F-4D97-AF65-F5344CB8AC3E}">
        <p14:creationId xmlns:p14="http://schemas.microsoft.com/office/powerpoint/2010/main" val="1696265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5C7B5-AFEC-4C42-BE39-82F566EB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6A686-8BF7-40A2-BC17-EE9D9458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O, Ω y Θ responden preguntas distintas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48C72-69F7-4F54-B3C7-41A4E762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AC211-FEA0-4E52-B91F-94D16ADA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8278F-41ED-43B5-98CC-76B01C6A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BB34A-FEA6-4FD9-B8FF-D675CF66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O(g)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5735E-A033-4190-A060-548B6A12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Cota superior</a:t>
            </a:r>
          </a:p>
          <a:p xmlns:a="http://schemas.openxmlformats.org/drawingml/2006/main">
            <a:pPr algn="ctr">
              <a:def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No crece más rápido</a:t>
            </a:r>
          </a:p>
          <a:p xmlns:a="http://schemas.openxmlformats.org/drawingml/2006/main">
            <a:pPr algn="ctr">
              <a:def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que 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5A160-4688-4800-BD66-98692327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5DFD9-D04E-4E32-AA2E-043BD02A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7B9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E7B94C"/>
                </a:solidFill>
                <a:latin typeface="Bitstream Charter"/>
                <a:ea typeface="Bitstream Charter"/>
                <a:cs typeface="Bitstream Charter"/>
              </a:rPr>
              <a:t>Ω(g)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8199E-D398-498B-B932-67C61800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Cota inferior</a:t>
            </a:r>
          </a:p>
          <a:p xmlns:a="http://schemas.openxmlformats.org/drawingml/2006/main">
            <a:pPr algn="ctr">
              <a:def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Crece al menos tan</a:t>
            </a:r>
          </a:p>
          <a:p xmlns:a="http://schemas.openxmlformats.org/drawingml/2006/main">
            <a:pPr algn="ctr">
              <a:def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rápido como 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DBA59-F1EA-40F6-BC99-4A8DC6B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23654-5CAD-4686-9D13-C341F1E8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Θ(g)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89FAA-633D-4948-9E75-C879FC99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Mismo orden</a:t>
            </a:r>
          </a:p>
          <a:p xmlns:a="http://schemas.openxmlformats.org/drawingml/2006/main">
            <a:pPr algn="ctr">
              <a:def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Cotas superior e inferior</a:t>
            </a:r>
          </a:p>
          <a:p xmlns:a="http://schemas.openxmlformats.org/drawingml/2006/main">
            <a:pPr algn="ctr">
              <a:def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coinciden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A912D-E1B8-4B75-9595-C6DE0EC6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Las constantes y un número finito de entradas pequeñas no cambian el orden.</a:t>
            </a:r>
          </a:p>
        </p:txBody>
      </p:sp>
    </p:spTree>
    <p:extLst>
      <p:ext uri="{BB962C8B-B14F-4D97-AF65-F5344CB8AC3E}">
        <p14:creationId xmlns:p14="http://schemas.microsoft.com/office/powerpoint/2010/main" val="1410196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DEA22-9CC2-49B8-BA84-C26A3708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23BF1-CC50-4D18-B4FA-DEC4D3EF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Órdenes comunes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4CE90-FE20-485D-A397-C5B67456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37421-EE55-40A1-B5E6-EE318109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7CD12-26B8-4591-8B28-3088875B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7BDD8-B54B-4972-AA86-CFD3F493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287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log 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22EDD-E930-4017-B978-BD8B0B93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16629-E823-460A-89A7-6F098C9E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n log 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8A935-95CF-4DE3-A2C1-C2695723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n²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57250" y="23812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43aca48d2b436e"/>
          </a:graphicData>
        </a:graphic>
      </p:graphicFrame>
    </p:spTree>
    <p:extLst>
      <p:ext uri="{BB962C8B-B14F-4D97-AF65-F5344CB8AC3E}">
        <p14:creationId xmlns:p14="http://schemas.microsoft.com/office/powerpoint/2010/main" val="971123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E0DC8-2F1D-4D3D-BF40-B3E6F2EC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E93F0-CD0C-4803-AA95-F10D8EDF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Sumatorias que aparecen una y otra vez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11B68-EEE8-4BE6-81FA-CE0E10FB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88E8D-4AF3-4EEF-A001-53EBDD96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00801-82F2-4548-B8DF-73780DF7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Tipo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EFA6F-2C4B-48CF-90EE-53A5F4E1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81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Orden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B76A5-DC9A-41B0-9530-530C8D38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Σ iᵈ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B77AA-381F-4AE6-8840-72A3AB44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Θ(nᵈ⁺¹)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42AB4-CC0E-474A-A3EF-283EF0E5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1A273-1784-4D7B-921D-64578A51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Σ rⁱ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11300-3FC7-452B-8754-10606F80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Θ(término mayor)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45887-0648-421B-96D1-9EB358C2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42FAA-C3B3-49F5-AF7F-45318586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Σ log 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8D0AD-BBE0-405F-A776-CAF91CD7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Θ(n log n)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22266-8ED8-44DC-808E-1AC0D63F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15141-8335-45F7-9F4E-00C940DB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Σ iᵈ log 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E9027-3C58-4C8B-8277-6BBFF421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Θ(nᵈ⁺¹ log n)</a:t>
            </a:r>
          </a:p>
        </p:txBody>
      </p:sp>
    </p:spTree>
    <p:extLst>
      <p:ext uri="{BB962C8B-B14F-4D97-AF65-F5344CB8AC3E}">
        <p14:creationId xmlns:p14="http://schemas.microsoft.com/office/powerpoint/2010/main" val="461398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5AD84-4932-44EC-98E9-63B33EC4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CC20E-15CA-4F7B-9961-2EB08DA0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Problema: buscar en un arreglo ordenado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A73DE-C6FE-4819-8CBF-E751651F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2ED63-B73F-4EC7-A7B7-7FD60944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65B9F-E925-47C7-ADE3-272D0766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Entrada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B8535-C65F-4708-B334-D5B6B71C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7637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E ordenado, n elementos y una clave 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E9325-7C7A-4663-B40A-591BC7B9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Salida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88F18-1186-47F1-B00A-03103961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2887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índice con E[índice] = K, o −1 si K no aparece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6D089-0870-473F-B766-E395B869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10382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156A7-456D-466C-8DB8-C1AB063F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00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La información “ordenado” debe cambiar el algoritmo. Si no la usamos, desperdiciamos estructura del problema.</a:t>
            </a:r>
          </a:p>
        </p:txBody>
      </p:sp>
    </p:spTree>
    <p:extLst>
      <p:ext uri="{BB962C8B-B14F-4D97-AF65-F5344CB8AC3E}">
        <p14:creationId xmlns:p14="http://schemas.microsoft.com/office/powerpoint/2010/main" val="1957910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6786D-6FFA-4F99-B24F-CDF81B14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77F69-CBA6-48EE-BD78-5614470B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Búsqueda secuencial: correcta, pero lineal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1F614-1B3C-4CC9-9304-237B02A0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6BF82-A6CA-4E65-A534-CDA0CAB8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A7CCE-6E7D-4CC4-9315-39F636CC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5048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para i = 0,…,n−1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si E[i] = K: devolver i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si E[i] &gt; K: devolver −1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devolver −1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C2BB6-0731-4981-AB6B-7448062C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Peor caso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6CB3D-E8D7-492A-8BD2-B8A6C3C4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n comparaciones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17602-F1CE-4E38-9FC1-F92976C9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Caso promedio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0D6D5-F3A1-43D1-89B8-B0A99DB3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aproximadamente n/2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D033A-ECE9-41A6-84AA-D817ADB1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Detenerse al superar K mejora algunas entradas, pero no cambia el orden lineal.</a:t>
            </a:r>
          </a:p>
        </p:txBody>
      </p:sp>
    </p:spTree>
    <p:extLst>
      <p:ext uri="{BB962C8B-B14F-4D97-AF65-F5344CB8AC3E}">
        <p14:creationId xmlns:p14="http://schemas.microsoft.com/office/powerpoint/2010/main" val="15597919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90C7E-9435-4EC2-B956-6D57733C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DC3BD-CEA2-4E42-A34B-E4472E12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Saltos de tamaño j: una mejora intermedia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0B120-465E-4E1B-8495-28031CAF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AC738-58A6-488D-BD17-A749FB0D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A13A9-9276-4FDE-B2B8-66EADA90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Costo aproximado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62338-732F-4658-B47A-C5FFA7CD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2858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n/j + 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15CFA-B770-48E9-8AF7-E153B2EC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Primero se inspecciona cada j-ésimo elemento. Después se explora la sección candidata.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385E3-9712-4428-8135-452A4648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14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0F3E3-DC60-46AA-A25B-3747E6A2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71875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El mínimo ocurre alrededor de j = √n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94985-5248-4E8B-9128-02D8AE99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9575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Costo aproximado: 2√n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80F86-03E8-4B1A-9318-0B75624C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La mejora rompe la barrera lineal, pero todavía puede reducirse más.</a:t>
            </a:r>
          </a:p>
        </p:txBody>
      </p:sp>
    </p:spTree>
    <p:extLst>
      <p:ext uri="{BB962C8B-B14F-4D97-AF65-F5344CB8AC3E}">
        <p14:creationId xmlns:p14="http://schemas.microsoft.com/office/powerpoint/2010/main" val="6145510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4D1E5-9F56-4F66-813C-C6AB8878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EB9EE-EC13-4A80-90B6-256F0F83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Búsqueda binaria: descartar la mitad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2D0D3-36BB-458A-A3A8-24C4A6C7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6A178-EC91-4ED5-95F0-B3254F62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29CEE-6E8A-4E1D-96A0-B9080270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1  3  5  8  12  17  21  26  31  40  54  70  85  91  96  99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450C2-21B2-44AF-90B5-17DAC0AA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2962"/>
          </a:solidFill>
          <a:ln xmlns:a="http://schemas.openxmlformats.org/drawingml/2006/main" w="19050">
            <a:solidFill>
              <a:srgbClr val="B6296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00449-1D96-4FD6-B782-E52FB85C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D10F1-B1A2-451E-8B6F-28754F1A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Si K &gt; 26, se descarta toda la mitad izquierda con una comparación.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C01F1-A423-449F-891A-E6B59E8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Cada paso reduce el intervalo de n a aproximadamente n/2.</a:t>
            </a:r>
          </a:p>
        </p:txBody>
      </p:sp>
    </p:spTree>
    <p:extLst>
      <p:ext uri="{BB962C8B-B14F-4D97-AF65-F5344CB8AC3E}">
        <p14:creationId xmlns:p14="http://schemas.microsoft.com/office/powerpoint/2010/main" val="17331651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63944-E186-43ED-8574-47A8A358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579B7-7AE6-4C5A-8C68-74A82BCB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Pseudocódigo de búsqueda binaria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8C5C5-6E36-48F5-876D-4057C953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54B0C-EAB6-43DE-AC81-23FC5FED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BFF1E-AE90-4BD7-A7BD-31DFA57A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85875"/>
            <a:ext cx="9906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binaria(E, primero, último, K)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si último &lt; primero: devolver −1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medio = ⌊(primero + último)/2⌋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si K = E[medio]: devolver medio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si K &lt; E[medio]: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devolver binaria(E, primero, medio−1, K)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devolver binaria(E, medio+1, último, K)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CAC90-EFDE-4C93-9167-A643A235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La precondición decisiva: E está ordenado.</a:t>
            </a:r>
          </a:p>
        </p:txBody>
      </p:sp>
    </p:spTree>
    <p:extLst>
      <p:ext uri="{BB962C8B-B14F-4D97-AF65-F5344CB8AC3E}">
        <p14:creationId xmlns:p14="http://schemas.microsoft.com/office/powerpoint/2010/main" val="12761446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C9E00-B7E4-4614-837E-EE16AEC2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9C7F7-7BB9-4514-89D9-EF9D57A5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La misma búsqueda en MATLAB y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C9C35-6C23-40E6-BD39-73BB9EFB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8C9AB-38A2-4D9E-A3DB-C9C355D0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05AA4-723D-4F08-89AB-158105E9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287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Las dos versiones conservan el intervalo [primero, último] y la decisión sobre el punto medio.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A8BE2-BB65-4922-8892-EA9E8005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5429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MATLAB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function idx = binaria(E,K)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a=1; b=length(E);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while a&lt;=b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m=floor((a+b)/2);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if E(m)==K, idx=m; return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elseif K&lt;E(m), b=m-1;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else, a=m+1; end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end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idx=-1; 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9940F-5B43-4798-BFCA-923DE2AB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5429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PYTHON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def binaria(E, K):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a, b = 0, len(E)-1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while a &lt;= b: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m = (a+b)//2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if E[m] == K: return m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if K &lt; E[m]: b = m-1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    else: a = m+1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    return -1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4C5E5-7FF3-4A80-B184-FFC67F6C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Atención: MATLAB indexa desde 1; Python, desde 0.</a:t>
            </a:r>
          </a:p>
        </p:txBody>
      </p:sp>
    </p:spTree>
    <p:extLst>
      <p:ext uri="{BB962C8B-B14F-4D97-AF65-F5344CB8AC3E}">
        <p14:creationId xmlns:p14="http://schemas.microsoft.com/office/powerpoint/2010/main" val="15076996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09ADB-02B0-46CA-93A7-7B2B49E8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700AD-2747-4FF5-88F7-867FFE6A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Peor caso: cuántas veces puede dividirse n entre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58581-8CBC-447B-A4CC-C3DA7EB3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2A944-9A55-45F6-BF56-CBC01CFD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2C9D7-548E-4E32-AF4F-08C221C5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192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n / 2ᵈ ≥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A5219-B2BA-48EC-911D-E6173D0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d ≤ log₂ 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8DD00-3E26-4896-B5A8-B614BE92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ED690-F15B-4C40-ADEE-450E7673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81375"/>
            <a:ext cx="971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W(n) = ⌈log₂(n+1)⌉ comparaciones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39292-16AF-4C36-9EE8-FDCDCAD6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Tiempo en Θ(log 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4F7BB-54DA-40FC-9C23-FA2CABF2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Para un millón de elementos, el peor caso requiere cerca de 20 comparaciones.</a:t>
            </a:r>
          </a:p>
        </p:txBody>
      </p:sp>
    </p:spTree>
    <p:extLst>
      <p:ext uri="{BB962C8B-B14F-4D97-AF65-F5344CB8AC3E}">
        <p14:creationId xmlns:p14="http://schemas.microsoft.com/office/powerpoint/2010/main" val="8875569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6E9E4-38FF-4123-960C-D73D991F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DA7E1-E51B-472D-A7A1-DD1D1E63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Actividad: simular y registrar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10481-270F-4DCE-9160-4E76B31A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83B64-637C-4758-907B-8AB1BE18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D360E-D515-4BB3-9DD0-A83CDA29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Arreglo: [2, 5, 9, 12, 18, 21, 25, 31, 40, 47, 53, 60, 74, 88, 95]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0B73D-438C-4668-92E6-AB3DAD80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Busquen K = 47 y después K = 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E5519-7140-44B5-8AEA-1334A66D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En cada paso registren: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23D60-30B5-48FF-95A7-5F392026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intervalo vigente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F6A89-3F18-4B20-A29D-B0735E43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índice medio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06748-3278-48F6-AB24-87A827F9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comparación realizada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6C23A-FE0B-4748-BEA4-BF3F3640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mitad descartada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9BE2F-FF4C-4AFA-914C-DB19ACA2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Comparen el número observado con ⌈log₂(n+1)⌉.</a:t>
            </a:r>
          </a:p>
        </p:txBody>
      </p:sp>
    </p:spTree>
    <p:extLst>
      <p:ext uri="{BB962C8B-B14F-4D97-AF65-F5344CB8AC3E}">
        <p14:creationId xmlns:p14="http://schemas.microsoft.com/office/powerpoint/2010/main" val="10564522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D9E5C-A2C6-4F15-83CA-D5CDB7FA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5E5AB-021D-457F-AD50-947C72BF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Optimalidad y cotas inferiores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412FE-1B73-429F-9E7A-5D74F1C2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CF6B4-B4B5-47EC-9078-6815D6B3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090BA-9751-4EAF-9D14-D5330043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382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Demostrar que un algoritmo es rápido no prueba que sea el mejor posible.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C0CA4-D17E-44E4-B3FE-17AEEB3A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2C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17298-06BB-4E84-84A7-6DC29123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14625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Una cota inferior limita a toda una clase de algoritmos.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CE1C0-A4C0-4628-A819-1379E20A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81375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Si cualquier método necesita al menos log₂ n comparaciones y la búsqueda binaria usa Θ(log n), entonces su orden es óptimo.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42DB1-0646-4844-BACA-B5123D29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Pregunta crítica: ¿bajo qué operaciones y supuestos se afirma la optimalidad?</a:t>
            </a:r>
          </a:p>
        </p:txBody>
      </p:sp>
    </p:spTree>
    <p:extLst>
      <p:ext uri="{BB962C8B-B14F-4D97-AF65-F5344CB8AC3E}">
        <p14:creationId xmlns:p14="http://schemas.microsoft.com/office/powerpoint/2010/main" val="10908146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D5DD5-81DB-4676-A06A-20FE79A4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553B5-E97B-4810-AF0E-0B51B26B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Cierre comparativo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7F26E-C5AF-4D1B-8B59-91A784B8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6C7D5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959C2-6D0C-40B5-8213-75DBF951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C7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67BDB-0464-4236-85C5-7726B269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Método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DD787-1E28-4B0B-940A-C7BBF1AF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811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Peor caso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DD8D9-DB39-4D14-B9AE-99264ED5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Orden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9EF8D-2E32-49EC-BBC8-97EAC7AD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Secuencial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52B95-E758-45BC-89BC-2E6AB3ED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38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60703-AB7F-426A-B0F5-5CA921F9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Θ(n)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BD1E6-225B-4405-80F9-3746D629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B432A-BAE3-4458-923A-229B4097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Saltos con j≈√n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786E1-08D4-4F52-BCBC-B08263A6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90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≈2√n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28001-76BC-4C72-ACFE-054940E0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Θ(√n)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AD74A-5523-4026-87CC-9E06CFEB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E685E-8913-4D1F-9EB2-D8A56696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Binaria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37FA0-890D-4D11-9E7C-70076ECF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43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51515"/>
                </a:solidFill>
                <a:latin typeface="Bitstream Charter"/>
                <a:ea typeface="Bitstream Charter"/>
                <a:cs typeface="Bitstream Charter"/>
              </a:rPr>
              <a:t>⌈log₂(n+1)⌉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DECB3-0F1F-41E5-8637-EAB80FA6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433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B62962"/>
                </a:solidFill>
                <a:latin typeface="Bitstream Charter"/>
                <a:ea typeface="Bitstream Charter"/>
                <a:cs typeface="Bitstream Charter"/>
              </a:rPr>
              <a:t>Θ(log n)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82796-7E95-49D0-A1EF-2BD4BF1E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73B57"/>
                </a:solidFill>
                <a:latin typeface="Bitstream Charter"/>
                <a:ea typeface="Bitstream Charter"/>
                <a:cs typeface="Bitstream Charter"/>
              </a:rPr>
              <a:t>Salida: explica por qué el orden del arreglo permite pasar de n a log n.</a:t>
            </a:r>
          </a:p>
        </p:txBody>
      </p:sp>
    </p:spTree>
    <p:extLst>
      <p:ext uri="{BB962C8B-B14F-4D97-AF65-F5344CB8AC3E}">
        <p14:creationId xmlns:p14="http://schemas.microsoft.com/office/powerpoint/2010/main" val="1068232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2026-09-21T13:35:44.7130000Z</dcterms:created>
  <dcterms:modified xsi:type="dcterms:W3CDTF">2026-09-21T13:35:44.7130000Z</dcterms:modified>
</coreProperties>
</file>